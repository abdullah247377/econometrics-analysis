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embeddedFontLst>
    <p:embeddedFont>
      <p:font typeface="DM Sans" pitchFamily="2" charset="77"/>
      <p:regular r:id="rId13"/>
      <p:bold r:id="rId14"/>
      <p:italic r:id="rId15"/>
      <p:boldItalic r:id="rId16"/>
    </p:embeddedFont>
    <p:embeddedFont>
      <p:font typeface="Merriweather" pitchFamily="2" charset="77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89F7E0-220B-4B83-A05D-DA7B368786FA}">
  <a:tblStyle styleId="{5E89F7E0-220B-4B83-A05D-DA7B368786F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>
      <p:cViewPr varScale="1">
        <p:scale>
          <a:sx n="90" d="100"/>
          <a:sy n="90" d="100"/>
        </p:scale>
        <p:origin x="232" y="7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5550"/>
            <a:ext cx="52387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95550"/>
            <a:ext cx="52387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2886075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The Digital Shift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341947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global economy has undergone a rapid digital transformation. Cloud computing and borderless digital services have revolutionized how nations trade, moving beyond physical goods to seamless digital transactions.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72275" y="2886075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The Core Problem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72275" y="341947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While traditional factors like labor costs drive FDI, little is known about the role of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digital trade openness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 Does a country's digital regulatory environment actually influence investment decisions?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0712"/>
            <a:ext cx="3492549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890712"/>
            <a:ext cx="3492549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90712"/>
            <a:ext cx="3492549" cy="4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Literature Review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36700" y="218598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432589" y="3138487"/>
            <a:ext cx="177022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Digital Trade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66775" y="3814762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Digital trade lowers transaction costs and facilitates Global Value Chains (GVCs), making it easier for SMEs to enter international markets (OECD, 2020).</a:t>
            </a:r>
            <a:endParaRPr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0" y="218598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045868" y="3138487"/>
            <a:ext cx="210026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OLI Framework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45074" y="3814762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Based on Dunning's Eclectic Paradigm, robust digital infrastructure and open policies create a "Location Advantage" for modern investors.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93299" y="218598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959185" y="3138487"/>
            <a:ext cx="183022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Gap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23374" y="3814762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Most studies focus on ICT infrastructure. Few empirically test the impact of regulatory restrictiveness (DSTRI) on FDI inflows.</a:t>
            </a:r>
            <a:endParaRPr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27200" y="23764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53125" y="237648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83799" y="237648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75002" y="3295203"/>
            <a:ext cx="5645497" cy="142964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 &amp; Framework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2657475"/>
            <a:ext cx="507360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Econometric Approach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3190875"/>
            <a:ext cx="483200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We utilized a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Fixed Effects Regression Model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with Clustered Standard Errors to control for unobserved country-specific heterogeneity.</a:t>
            </a:r>
            <a:endParaRPr dirty="0"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0277" y="3590478"/>
            <a:ext cx="5054947" cy="25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507039" y="4033391"/>
            <a:ext cx="25812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(Simplified Equation Representation)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95325" y="42957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62000" y="4295775"/>
            <a:ext cx="46415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Data: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Panel data from 15 countries.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95325" y="46005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4600575"/>
            <a:ext cx="46415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Period: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2015 - 2024 (10 Years).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95325" y="49053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4905375"/>
            <a:ext cx="46415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Theory: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Transaction Cost Theory.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Data Description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18"/>
          <p:cNvGraphicFramePr/>
          <p:nvPr/>
        </p:nvGraphicFramePr>
        <p:xfrm>
          <a:off x="571500" y="2262187"/>
          <a:ext cx="11049000" cy="3590875"/>
        </p:xfrm>
        <a:graphic>
          <a:graphicData uri="http://schemas.openxmlformats.org/drawingml/2006/table">
            <a:tbl>
              <a:tblPr firstRow="1" bandRow="1">
                <a:noFill/>
                <a:tableStyleId>{5E89F7E0-220B-4B83-A05D-DA7B368786FA}</a:tableStyleId>
              </a:tblPr>
              <a:tblGrid>
                <a:gridCol w="276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Definition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Source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FDI</a:t>
                      </a: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(Dependent)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Inflows as % of GDP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World Bank (WDI)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DSTRI</a:t>
                      </a: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(Independent)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Digital Services Trade Restrictiveness Index (0-1)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OECD (2024)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GDP Per Capita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Current US$ (Proxy for Market Size)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World Bank (WDI)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Trade Openness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Sum of Exports &amp; Imports as % of GDP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World Bank (WDI)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Control Vars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Inflation (%), Internet Penetration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World Bank (WDI)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7" name="Google Shape;157;p18"/>
          <p:cNvSpPr/>
          <p:nvPr/>
        </p:nvSpPr>
        <p:spPr>
          <a:xfrm>
            <a:off x="571500" y="3438525"/>
            <a:ext cx="2768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339851" y="3438525"/>
            <a:ext cx="59217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9261574" y="3438525"/>
            <a:ext cx="2358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71500" y="4038600"/>
            <a:ext cx="2768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3339851" y="4038600"/>
            <a:ext cx="59217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9261574" y="4038600"/>
            <a:ext cx="2358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71500" y="4638675"/>
            <a:ext cx="2768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3339851" y="4638675"/>
            <a:ext cx="59217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9261574" y="4638675"/>
            <a:ext cx="2358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71500" y="5238750"/>
            <a:ext cx="2768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339851" y="5238750"/>
            <a:ext cx="59217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9261574" y="5238750"/>
            <a:ext cx="2358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71500" y="5838825"/>
            <a:ext cx="2768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3339851" y="5838825"/>
            <a:ext cx="59217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9261574" y="5838825"/>
            <a:ext cx="2358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Econometric Strategy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952500" y="288607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Panel Data Justification: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Captures both time-series and cross-sectional dimensions, adjusting for unobserved country characteristics (e.g., culture, legal systems).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52500" y="368617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Hausman Test: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The test yielded a p-value of 0.0000, rejecting the null hypothesis. Thus, the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Fixed Effects (FE)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model was selected over Random Effects.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52500" y="448627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Robustness: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Diagnostics revealed the presence of heteroskedasticity and autocorrelation. We implemented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Clustered Standard Errors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to ensure reliable inference.</a:t>
            </a:r>
            <a:endParaRPr/>
          </a:p>
        </p:txBody>
      </p:sp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41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24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2437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Diagnostic Test Results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20"/>
          <p:cNvGraphicFramePr/>
          <p:nvPr/>
        </p:nvGraphicFramePr>
        <p:xfrm>
          <a:off x="571500" y="2562225"/>
          <a:ext cx="11049025" cy="2990875"/>
        </p:xfrm>
        <a:graphic>
          <a:graphicData uri="http://schemas.openxmlformats.org/drawingml/2006/table">
            <a:tbl>
              <a:tblPr firstRow="1" bandRow="1">
                <a:noFill/>
                <a:tableStyleId>{5E89F7E0-220B-4B83-A05D-DA7B368786FA}</a:tableStyleId>
              </a:tblPr>
              <a:tblGrid>
                <a:gridCol w="270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 Type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Statistic / Result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Conclusion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Multicollinearity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VIF &lt; 5 for all variables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6A34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No Issues.</a:t>
                      </a: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Variables are distinct.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Heteroskedasticity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Breusch-Pagan (p = 0.00032)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C262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Present.</a:t>
                      </a: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Variance is not constant.</a:t>
                      </a:r>
                      <a:endParaRPr/>
                    </a:p>
                  </a:txBody>
                  <a:tcPr marL="3048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Autocorrelation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Durbin-Watson = 1.3598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C262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Present.</a:t>
                      </a: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Positive serial correlation.</a:t>
                      </a:r>
                      <a:endParaRPr/>
                    </a:p>
                  </a:txBody>
                  <a:tcPr marL="3048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Correction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Clustered Standard Errors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Applied to fix standard error bias.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3" name="Google Shape;193;p20"/>
          <p:cNvSpPr/>
          <p:nvPr/>
        </p:nvSpPr>
        <p:spPr>
          <a:xfrm>
            <a:off x="571500" y="3738562"/>
            <a:ext cx="2709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281064" y="3738562"/>
            <a:ext cx="37860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7067103" y="3738562"/>
            <a:ext cx="4553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71500" y="4338637"/>
            <a:ext cx="2709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281064" y="4338637"/>
            <a:ext cx="37860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7067103" y="4338637"/>
            <a:ext cx="4553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71500" y="4938712"/>
            <a:ext cx="2709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281064" y="4938712"/>
            <a:ext cx="37860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7067103" y="4938712"/>
            <a:ext cx="4553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71500" y="5538787"/>
            <a:ext cx="2709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281064" y="5538787"/>
            <a:ext cx="37860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7067103" y="5538787"/>
            <a:ext cx="4553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9978" y="33528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9978" y="39528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09978" y="45529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9978" y="33528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9978" y="39528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09978" y="455295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Final Regression Results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21"/>
          <p:cNvGraphicFramePr/>
          <p:nvPr/>
        </p:nvGraphicFramePr>
        <p:xfrm>
          <a:off x="571500" y="2106959"/>
          <a:ext cx="11049000" cy="2990875"/>
        </p:xfrm>
        <a:graphic>
          <a:graphicData uri="http://schemas.openxmlformats.org/drawingml/2006/table">
            <a:tbl>
              <a:tblPr firstRow="1" bandRow="1">
                <a:noFill/>
                <a:tableStyleId>{5E89F7E0-220B-4B83-A05D-DA7B368786FA}</a:tableStyleId>
              </a:tblPr>
              <a:tblGrid>
                <a:gridCol w="24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Coefficient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P-Value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Interpretation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DSTRI (Key Var)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-1.3509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0.8703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Negative impact, but Not Significant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GDP per Capita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-0.0006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0.0641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Marginally Significant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Trade Openness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-0.3351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0.0665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Marginally Significant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Inflation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0.1340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0.0632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Marginally Significant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9" name="Google Shape;219;p21"/>
          <p:cNvSpPr txBox="1"/>
          <p:nvPr/>
        </p:nvSpPr>
        <p:spPr>
          <a:xfrm>
            <a:off x="571500" y="5288309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Note: R-squared = 30.6%. The negative coefficient for DSTRI suggests restrictions discourage investment, but the evidence is not statistically strong in this sample.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571500" y="3283297"/>
            <a:ext cx="2462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3034307" y="3283297"/>
            <a:ext cx="18777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912072" y="3283297"/>
            <a:ext cx="1455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6367908" y="3283297"/>
            <a:ext cx="5252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571500" y="3883372"/>
            <a:ext cx="2462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3034307" y="3883372"/>
            <a:ext cx="18777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912072" y="3883372"/>
            <a:ext cx="1455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6367908" y="3883372"/>
            <a:ext cx="5252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571500" y="4483447"/>
            <a:ext cx="2462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3034307" y="4483447"/>
            <a:ext cx="18777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4912072" y="4483447"/>
            <a:ext cx="1455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6367908" y="4483447"/>
            <a:ext cx="5252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71500" y="5083522"/>
            <a:ext cx="2462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034307" y="5083522"/>
            <a:ext cx="18777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912072" y="5083522"/>
            <a:ext cx="1455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367908" y="5083522"/>
            <a:ext cx="5252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50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Discussion of Findings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6381750" y="2486025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Digital vs. Traditional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381750" y="301942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results indicate that while digital trade openness (low DSTRI) is positively correlated with investment, it is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not yet a primary driver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compared to traditional macroeconomic fundamentals.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381750" y="44291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lack of statistical significance suggests that for the 15 countries studied, investors still prioritize market stability and openness over specific digital regulations.</a:t>
            </a:r>
            <a:endParaRPr/>
          </a:p>
        </p:txBody>
      </p:sp>
      <p:pic>
        <p:nvPicPr>
          <p:cNvPr id="247" name="Google Shape;24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05025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5550"/>
            <a:ext cx="52387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95550"/>
            <a:ext cx="52387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&amp; Policy Implications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962025" y="2886075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Policy Balance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962025" y="341947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Policymakers should pursue a balanced approach. While digital liberalization is important, it must be paired with strong macroeconomic stability (controlling inflation, boosting GDP) to effectively attract foreign capital.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772275" y="2886075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Outlook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6772275" y="341947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Digital trade openness acts as a complementary factor rather than a standalone magnet for FDI. As the digital economy matures, this relationship may strengthen, but traditional economic health remains paramount.</a:t>
            </a:r>
            <a:endParaRPr/>
          </a:p>
        </p:txBody>
      </p:sp>
      <p:pic>
        <p:nvPicPr>
          <p:cNvPr id="261" name="Google Shape;26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9241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924175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762000" y="762000"/>
            <a:ext cx="48006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Limitations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762000" y="1524000"/>
            <a:ext cx="457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1143000" y="2581275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Sample Size: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Limited to 15 countries due to DSTRI data availability, affecting generalizability.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1143000" y="3686175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Statistical Power: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Clustered SEs increased standard errors, making significance harder to detect.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1143000" y="4791075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Causality: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The "chicken and egg" problem—does FDI drive digital policy, or vice versa?</a:t>
            </a:r>
            <a:endParaRPr/>
          </a:p>
        </p:txBody>
      </p:sp>
      <p:pic>
        <p:nvPicPr>
          <p:cNvPr id="274" name="Google Shape;27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19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724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82917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Macintosh PowerPoint</Application>
  <PresentationFormat>Widescreen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Merriweather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1</cp:revision>
  <dcterms:modified xsi:type="dcterms:W3CDTF">2026-08-16T16:59:36Z</dcterms:modified>
</cp:coreProperties>
</file>